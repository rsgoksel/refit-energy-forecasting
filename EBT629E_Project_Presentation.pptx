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Household Energy Consumption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D4D4D"/>
                </a:solidFill>
              </a:defRPr>
            </a:pPr>
            <a:r>
              <a:t>A Comparative Study of ARIMA, LSTM, and FB-Prophet on the REFIT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D4D4D"/>
                </a:solidFill>
              </a:defRPr>
            </a:pPr>
            <a:r>
              <a:t>Nurullah Yildirim (301252004)</a:t>
            </a:r>
          </a:p>
          <a:p>
            <a:pPr algn="ctr">
              <a:defRPr sz="1600">
                <a:solidFill>
                  <a:srgbClr val="4D4D4D"/>
                </a:solidFill>
              </a:defRPr>
            </a:pPr>
            <a:r>
              <a:t>Kadir Goksel Gunduz (301241077)</a:t>
            </a:r>
          </a:p>
          <a:p>
            <a:pPr algn="ctr">
              <a:defRPr sz="1600">
                <a:solidFill>
                  <a:srgbClr val="4D4D4D"/>
                </a:solidFill>
              </a:defRPr>
            </a:pPr>
            <a:r>
              <a:t>Furkan Cinar (301212001)</a:t>
            </a:r>
          </a:p>
          <a:p>
            <a:pPr algn="ctr">
              <a:defRPr sz="1600">
                <a:solidFill>
                  <a:srgbClr val="4D4D4D"/>
                </a:solidFill>
              </a:defRPr>
            </a:pPr>
          </a:p>
          <a:p>
            <a:pPr algn="ctr">
              <a:defRPr sz="1600">
                <a:solidFill>
                  <a:srgbClr val="4D4D4D"/>
                </a:solidFill>
              </a:defRPr>
            </a:pPr>
            <a:r>
              <a:t>EBT 629E, Artificial Intelligence, ITU,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Why Forecast Household Energy?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Smart meter roll-out makes per-house forecasting feasible.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Useful for demand response, PV self-consumption, battery scheduling.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Single-house signals are noisy, idiosyncratic, hard to forecast.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Question: ARIMA vs LSTM vs Prophet, which works best at this scale?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REFIT Dataset, House 2 Appliance Correlations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740664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20 UK households, 8-second sampling, October 2013 to June 2015.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Exploratory Data Analysis</a:t>
            </a:r>
          </a:p>
        </p:txBody>
      </p:sp>
      <p:pic>
        <p:nvPicPr>
          <p:cNvPr id="3" name="Picture 2" descr="data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7988243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Evening peaks 16:00 to 20:00, weekend uplift, right-skewed daily distribution.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End-to-End Pipeline</a:t>
            </a:r>
          </a:p>
        </p:txBody>
      </p:sp>
      <p:pic>
        <p:nvPicPr>
          <p:cNvPr id="3" name="Picture 2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868063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From 5.7M raw rows to 122 test days through daily resample and 7-day smoothing.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ARIMA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ADF stationarity test: p-value 0.94, so d = 1.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Grid search over (p, q) in [0,2], select by lowest AIC.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Best model: ARIMA(2, 1, 2), AIC = 4547.6.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Deployed under rolling one-step-ahead forecast.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LSTM Architecture</a:t>
            </a:r>
          </a:p>
        </p:txBody>
      </p:sp>
      <p:pic>
        <p:nvPicPr>
          <p:cNvPr id="3" name="Picture 2" descr="lst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618260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3 stacked LSTM layers + dropout, 14-day input window, 128,929 trainable params.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FB-Prophet Decomposition</a:t>
            </a:r>
          </a:p>
        </p:txBody>
      </p:sp>
      <p:pic>
        <p:nvPicPr>
          <p:cNvPr id="3" name="Picture 2" descr="prophet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493776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Weekly + yearly seasonality, multiplicative mode, default changepoint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KEY SLIDE: Rolling vs Multi-step Protocol</a:t>
            </a:r>
          </a:p>
        </p:txBody>
      </p:sp>
      <p:pic>
        <p:nvPicPr>
          <p:cNvPr id="3" name="Picture 2" descr="rolling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850762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ARIMA / LSTM see yesterday's actual. Prophet must commit to 122 days at once.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Final Performance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rPr b="1" sz="160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6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600"/>
                        <a:t>RMSE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600"/>
                        <a:t>MAE (W)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600"/>
                        <a:t>R2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/>
                        <a:t>ARIMA(2,1,2)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2,370.01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48.68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0.876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/>
                        <a:t>LSTM (3-layer)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15,436.04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124.24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0.193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400"/>
                        <a:t>FB-Prophet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18,851.52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137.30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111.70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0.015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Predicted vs Actual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57092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ARIMA tracks closely, LSTM smooths peaks, Prophet captures only the baseline.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Metrics Side by Side</a:t>
            </a:r>
          </a:p>
        </p:txBody>
      </p:sp>
      <p:pic>
        <p:nvPicPr>
          <p:cNvPr id="3" name="Picture 2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1790271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Development Iterations</a:t>
            </a:r>
          </a:p>
        </p:txBody>
      </p:sp>
      <p:pic>
        <p:nvPicPr>
          <p:cNvPr id="3" name="Picture 2" descr="iterat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98085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4D4D4D"/>
                </a:solidFill>
              </a:defRPr>
            </a:pPr>
            <a:r>
              <a:t>Daily resample + 7-day smoothing + rolling forecast lifted R2 from -0.13 to 0.876.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ARIMA wins: strong lag-1 autocorrelation + rolling refit.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LSTM underperforms: only 476 training sequences, data-scale bound.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Prophet looks worst: unfair multi-step protocol, no test access.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Hybrid models (CNN-LSTM-Transformer, STL-Prophet-LSTM) are the natural next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Conclusion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Rolling protocol is the single most impactful design choice.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Classical statistics stay competitive at single-household daily granularity.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Future: weather + calendar features via SARIMAX / multivariate LSTM.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Future: cross-household transfer learning across all 20 REFIT homes.</a:t>
            </a:r>
          </a:p>
          <a:p>
            <a:pPr>
              <a:spcAft>
                <a:spcPts val="800"/>
              </a:spcAft>
              <a:defRPr sz="2000">
                <a:solidFill>
                  <a:srgbClr val="4D4D4D"/>
                </a:solidFill>
              </a:defRPr>
            </a:pPr>
            <a:r>
              <a:t>• Future: rolling refit Prophet for a fair multi-step comparison.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