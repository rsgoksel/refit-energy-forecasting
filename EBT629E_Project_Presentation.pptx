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Household Energy Consumption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D4D4D"/>
                </a:solidFill>
              </a:defRPr>
            </a:pPr>
            <a:r>
              <a:t>A Comparative Study of ARIMA, LSTM, and FB-Prophet on the REFIT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D4D4D"/>
                </a:solidFill>
              </a:defRPr>
            </a:pPr>
            <a:r>
              <a:t>Nurullah Yildirim (301252004)</a:t>
            </a:r>
          </a:p>
          <a:p>
            <a:pPr algn="ctr">
              <a:defRPr sz="1600">
                <a:solidFill>
                  <a:srgbClr val="4D4D4D"/>
                </a:solidFill>
              </a:defRPr>
            </a:pPr>
            <a:r>
              <a:t>Kadir Goksel Gunduz (301241077)</a:t>
            </a:r>
          </a:p>
          <a:p>
            <a:pPr algn="ctr">
              <a:defRPr sz="1600">
                <a:solidFill>
                  <a:srgbClr val="4D4D4D"/>
                </a:solidFill>
              </a:defRPr>
            </a:pPr>
            <a:r>
              <a:t>Furkan Cinar (301212001)</a:t>
            </a:r>
          </a:p>
          <a:p>
            <a:pPr algn="ctr">
              <a:defRPr sz="1600">
                <a:solidFill>
                  <a:srgbClr val="4D4D4D"/>
                </a:solidFill>
              </a:defRPr>
            </a:pPr>
          </a:p>
          <a:p>
            <a:pPr algn="ctr">
              <a:defRPr sz="1600">
                <a:solidFill>
                  <a:srgbClr val="4D4D4D"/>
                </a:solidFill>
              </a:defRPr>
            </a:pPr>
            <a:r>
              <a:t>EBT 629E, Artificial Intelligence, ITU,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Why Forecast Household Energy?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Smart meter roll-out makes per-house forecasting feasible.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Useful for demand response, PV self-consumption, battery scheduling.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Single-house signals are noisy, idiosyncratic, hard to forecast.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Question: ARIMA vs LSTM vs Prophet, which works best at this scale?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REFIT Dataset, House 2 Appliance Correlations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740664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D4D4D"/>
                </a:solidFill>
              </a:defRPr>
            </a:pPr>
            <a:r>
              <a:t>20 UK households, 8-second sampling, October 2013 to June 2015.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Exploratory Data Analysis</a:t>
            </a:r>
          </a:p>
        </p:txBody>
      </p:sp>
      <p:pic>
        <p:nvPicPr>
          <p:cNvPr id="3" name="Picture 2" descr="data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7988243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D4D4D"/>
                </a:solidFill>
              </a:defRPr>
            </a:pPr>
            <a:r>
              <a:t>Evening peaks 16:00 to 20:00, weekend uplift, right-skewed daily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End-to-End Pipeline</a:t>
            </a:r>
          </a:p>
        </p:txBody>
      </p:sp>
      <p:pic>
        <p:nvPicPr>
          <p:cNvPr id="3" name="Picture 2" descr="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8680632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D4D4D"/>
                </a:solidFill>
              </a:defRPr>
            </a:pPr>
            <a:r>
              <a:t>From 5.7M raw rows to 122 test days through daily resample and 7-day smoothing.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ARIMA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ADF stationarity test: p-value 0.94, so d = 1.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Grid search over (p, q) in [0,2], select by lowest AIC.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Best model: ARIMA(2, 1, 2), AIC = 4547.6.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Deployed under rolling one-step-ahead forecast.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Persistence Baseline as Sanity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One-line rule: predict y[t] = y[t-1] (yesterday equals today).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Zero learned parameters, runs in microseconds.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Canonical sanity check: any model that cannot beat this learned nothing.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Runs under the same rolling protocol as ARIMA and LSTM.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LSTM Architecture</a:t>
            </a:r>
          </a:p>
        </p:txBody>
      </p:sp>
      <p:pic>
        <p:nvPicPr>
          <p:cNvPr id="3" name="Picture 2" descr="lst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6182608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D4D4D"/>
                </a:solidFill>
              </a:defRPr>
            </a:pPr>
            <a:r>
              <a:t>3 stacked LSTM layers + dropout, 14-day input window, 128,929 trainable params.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FB-Prophet Decomposition</a:t>
            </a:r>
          </a:p>
        </p:txBody>
      </p:sp>
      <p:pic>
        <p:nvPicPr>
          <p:cNvPr id="3" name="Picture 2" descr="prophet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493776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D4D4D"/>
                </a:solidFill>
              </a:defRPr>
            </a:pPr>
            <a:r>
              <a:t>Weekly + yearly seasonality, multiplicative mode, default changepoint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KEY SLIDE: Rolling vs Multi-step Protocol</a:t>
            </a:r>
          </a:p>
        </p:txBody>
      </p:sp>
      <p:pic>
        <p:nvPicPr>
          <p:cNvPr id="3" name="Picture 2" descr="rolling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8507627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D4D4D"/>
                </a:solidFill>
              </a:defRPr>
            </a:pPr>
            <a:r>
              <a:t>ARIMA / LSTM see yesterday's actual. Prophet must commit to 122 days at once.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Final Performance, House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rPr b="1" sz="16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RMSE 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MAE 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R2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Persistence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2,426.76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49.26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33.51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0.873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ARIMA(2,1,2)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2,370.01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48.68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32.75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0.876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LSTM (3-layer)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4,821.35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69.44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0.748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FB-Prophet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18,851.52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137.30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0.015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Predicted vs Actual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570921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D4D4D"/>
                </a:solidFill>
              </a:defRPr>
            </a:pPr>
            <a:r>
              <a:t>ARIMA tracks closely, LSTM smooths peaks, Prophet only captures the baseline.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Metrics Side by Side</a:t>
            </a:r>
          </a:p>
        </p:txBody>
      </p:sp>
      <p:pic>
        <p:nvPicPr>
          <p:cNvPr id="3" name="Picture 2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1790271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D4D4D"/>
                </a:solidFill>
              </a:defRPr>
            </a:pPr>
            <a:r>
              <a:t>Persistence and ARIMA are nearly indistinguishable; LSTM and Prophet trail behind.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KEY FINDING: Statistical Significance (Diebold-Mariano)</a:t>
            </a:r>
          </a:p>
        </p:txBody>
      </p:sp>
      <p:pic>
        <p:nvPicPr>
          <p:cNvPr id="3" name="Picture 2" descr="dm_tes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10985507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D4D4D"/>
                </a:solidFill>
              </a:defRPr>
            </a:pPr>
            <a:r>
              <a:t>ARIMA vs Persistence: p=0.665 (NOT significant). LSTM and Prophet lose to Persistence.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Cross-House Validation, R2 by Model</a:t>
            </a:r>
          </a:p>
        </p:txBody>
      </p:sp>
      <p:pic>
        <p:nvPicPr>
          <p:cNvPr id="3" name="Picture 2" descr="cross_hou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12027358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D4D4D"/>
                </a:solidFill>
              </a:defRPr>
            </a:pPr>
            <a:r>
              <a:t>Three houses (1, 2, 5). ARIMA wins narrowly on all; LSTM below Persistence on all; Prophet often negative.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Development Iterations</a:t>
            </a:r>
          </a:p>
        </p:txBody>
      </p:sp>
      <p:pic>
        <p:nvPicPr>
          <p:cNvPr id="3" name="Picture 2" descr="itera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9808567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D4D4D"/>
                </a:solidFill>
              </a:defRPr>
            </a:pPr>
            <a:r>
              <a:t>Daily resample + 7-day smoothing + rolling forecast lifted R2 from -0.13 to 0.876.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ARIMA wins, but barely: edge over Persistence is 0.003 R2 and NOT significant (p=0.665).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Lag-1 autocorrelation is doing 99% of the work. Heavier models add nothing here.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LSTM and Prophet both significantly WORSE than Persistence on all three houses.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Practical cost: ARIMA RMSE = 48.7 W (~11.2% of mean) = ~1.17 kWh/day on House 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Conclusion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Smoothed daily residential energy is dominated by lag-1 autocorrelation.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A one-line rule (Persistence) captures almost all of the predictable structure.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Methodological lesson: always report a baseline + significance test.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Future: hourly target (where lag-1 is weaker) + weather/calendar features.</a:t>
            </a:r>
          </a:p>
          <a:p>
            <a:pPr>
              <a:spcAft>
                <a:spcPts val="800"/>
              </a:spcAft>
              <a:defRPr sz="2000">
                <a:solidFill>
                  <a:srgbClr val="4D4D4D"/>
                </a:solidFill>
              </a:defRPr>
            </a:pPr>
            <a:r>
              <a:t>• Future: hybrid models (STL-Prophet-LSTM, CNN-LSTM-Transformer).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